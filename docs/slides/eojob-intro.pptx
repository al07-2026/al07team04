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0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  <a:ea typeface="Pretendard"/>
                <a:cs typeface="Pretendard"/>
              </a:defRPr>
            </a:pPr>
          </a:p>
        </p:txBody>
      </p:sp>
      <p:pic>
        <p:nvPicPr>
          <p:cNvPr id="3" name="Picture 2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516616" cy="42062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1600200"/>
            <a:ext cx="3291840" cy="329184"/>
          </a:xfrm>
          <a:prstGeom prst="roundRect">
            <a:avLst/>
          </a:prstGeom>
          <a:solidFill>
            <a:srgbClr val="245A53"/>
          </a:solidFill>
          <a:ln w="19050">
            <a:solidFill>
              <a:srgbClr val="F0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FOR HR EXECUTIVES &amp; RECRUITERS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6217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실무 검증된 시니어 전문가,</a:t>
            </a:r>
          </a:p>
          <a:p>
            <a:pPr>
              <a:defRPr sz="3000" b="1">
                <a:solidFill>
                  <a:srgbClr val="F06B4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정부 지원금으로 연 720만원</a:t>
            </a:r>
            <a:br/>
            <a:r>
              <a:rPr>
                <a:latin typeface="Pretendard"/>
                <a:ea typeface="Pretendard"/>
                <a:cs typeface="Pretendard"/>
              </a:rPr>
              <a:t>인건비를 절감하세요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DDEBE7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이어잡(EOJOB)은 AI 심층 역량 분석을 통해 당면 과제를 즉시 해결할 인재만 선별하고, 고용노동부 고용촉진장려금 환급을 원스톱으로 연결하는 기업 전용 인재 솔루션입니다.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03520"/>
            <a:ext cx="1874519" cy="868680"/>
          </a:xfrm>
          <a:prstGeom prst="roundRect">
            <a:avLst/>
          </a:prstGeom>
          <a:solidFill>
            <a:srgbClr val="0F2A27"/>
          </a:solidFill>
          <a:ln w="12700">
            <a:solidFill>
              <a:srgbClr val="245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950">
                <a:solidFill>
                  <a:srgbClr val="8A96A3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서류 합격률</a:t>
            </a:r>
          </a:p>
          <a:p>
            <a:pPr algn="ctr"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2.4배 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5303520"/>
            <a:ext cx="1874519" cy="868680"/>
          </a:xfrm>
          <a:prstGeom prst="roundRect">
            <a:avLst/>
          </a:prstGeom>
          <a:solidFill>
            <a:srgbClr val="0F2A27"/>
          </a:solidFill>
          <a:ln w="12700">
            <a:solidFill>
              <a:srgbClr val="245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950">
                <a:solidFill>
                  <a:srgbClr val="8A96A3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1인당 지원금</a:t>
            </a:r>
          </a:p>
          <a:p>
            <a:pPr algn="ctr">
              <a:defRPr sz="1400" b="1">
                <a:solidFill>
                  <a:srgbClr val="F06B4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연 720만원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303520"/>
            <a:ext cx="1874519" cy="868680"/>
          </a:xfrm>
          <a:prstGeom prst="roundRect">
            <a:avLst/>
          </a:prstGeom>
          <a:solidFill>
            <a:srgbClr val="0F2A27"/>
          </a:solidFill>
          <a:ln w="12700">
            <a:solidFill>
              <a:srgbClr val="245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950">
                <a:solidFill>
                  <a:srgbClr val="8A96A3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채용 리스크</a:t>
            </a:r>
          </a:p>
          <a:p>
            <a:pPr algn="ctr">
              <a:def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14일 무상 보증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005840"/>
            <a:ext cx="4023360" cy="5120640"/>
          </a:xfrm>
          <a:prstGeom prst="roundRect">
            <a:avLst/>
          </a:prstGeom>
          <a:solidFill>
            <a:srgbClr val="0F2A27"/>
          </a:solidFill>
          <a:ln w="19050">
            <a:solidFill>
              <a:srgbClr val="245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  <a:ea typeface="Pretendard"/>
                <a:cs typeface="Pretendard"/>
              </a:defRPr>
            </a:pPr>
          </a:p>
        </p:txBody>
      </p:sp>
      <p:pic>
        <p:nvPicPr>
          <p:cNvPr id="11" name="Picture 10" descr="eojob_senior_l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143000"/>
            <a:ext cx="3749039" cy="4114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80960" y="4754880"/>
            <a:ext cx="34747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05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🎖️ 20년+ 대기업/공공 출신 검증된 인재 풀</a:t>
            </a:r>
          </a:p>
          <a:p>
            <a:pPr algn="ctr">
              <a:defRPr sz="900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제조품질 · 클라우드 IT · 국책 R&amp;D 즉시 투입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DDEBE7"/>
          </a:solidFill>
          <a:ln w="12700">
            <a:solidFill>
              <a:srgbClr val="BB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5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01  |  MARKET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경력직 1명 채용에 850만원, 그런데 3개월 내 조기 퇴사율 27%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EOJOB B2B TALENT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E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  <a:ea typeface="Pretendard"/>
                <a:cs typeface="Pretendard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2800" b="1">
                <a:solidFill>
                  <a:srgbClr val="F06B4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850 만원</a:t>
            </a:r>
          </a:p>
          <a:p>
            <a:pPr>
              <a:defRPr sz="13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평균 경력 채용 소요 비용</a:t>
            </a:r>
          </a:p>
          <a:p>
            <a:br/>
            <a:pPr>
              <a:defRPr sz="1050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서칭, 공고비, 헤드헌팅 수수료(연봉의 15~25%) 및 서류 검토에 드는 기업 실질 지출액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2800" b="1">
                <a:solidFill>
                  <a:srgbClr val="B84734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27.4 %</a:t>
            </a:r>
          </a:p>
          <a:p>
            <a:pPr>
              <a:defRPr sz="13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입사 3개월 내 조기 퇴사율</a:t>
            </a:r>
          </a:p>
          <a:p>
            <a:br/>
            <a:pPr>
              <a:defRPr sz="1050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화려한 출신 직급만 보고 채용했으나, 실제 프로젝트 과제 미스매치로 인한 퇴사 손실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28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720 만원</a:t>
            </a:r>
          </a:p>
          <a:p>
            <a:pPr>
              <a:defRPr sz="13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1인당 미수령 고용촉진장려금</a:t>
            </a:r>
          </a:p>
          <a:p>
            <a:br/>
            <a:pPr>
              <a:defRPr sz="1050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복잡한 서류 절차와 대상자 파악의 어려움으로 매년 기업들이 놓치는 정부 환급금</a:t>
            </a:r>
          </a:p>
        </p:txBody>
      </p:sp>
      <p:pic>
        <p:nvPicPr>
          <p:cNvPr id="9" name="Picture 8" descr="eojob_hr_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77639"/>
            <a:ext cx="3840480" cy="2331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754880" y="3977639"/>
            <a:ext cx="6705295" cy="2331720"/>
          </a:xfrm>
          <a:prstGeom prst="roundRect">
            <a:avLst/>
          </a:prstGeom>
          <a:solidFill>
            <a:srgbClr val="173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/>
          <a:lstStyle/>
          <a:p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💡 이어잡(EOJOB)의 혁신적인 3대 해결책</a:t>
            </a:r>
          </a:p>
          <a:p>
            <a:br/>
            <a:pPr>
              <a:defRPr sz="1150">
                <a:solidFill>
                  <a:srgbClr val="DDEBE7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1. 스펙 중심 채용 ➔ AI 음성 인터뷰 기반 '문제 해결 역량 검증 카드' 사전 제공</a:t>
            </a:r>
          </a:p>
          <a:p>
            <a:pPr>
              <a:defRPr sz="1150">
                <a:solidFill>
                  <a:srgbClr val="DDEBE7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2. 경직된 전일제 정규직 ➔ 주 2~3일 하이브리드 고문 / 파트타임 유연 계약 지원</a:t>
            </a:r>
          </a:p>
          <a:p>
            <a:pPr>
              <a:defRPr sz="1150">
                <a:solidFill>
                  <a:srgbClr val="F06B4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3. 번거로운 서류 작업 ➔ 채용 즉시 분기별 180만원(연 720만원) 자동 신청 리포트 발행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DDEBE7"/>
          </a:solidFill>
          <a:ln w="12700">
            <a:solidFill>
              <a:srgbClr val="BB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5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02  |  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기존 채용 방식 vs 이어잡(EOJOB) 솔루션 5대 핵심 지표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EOJOB B2B TALENT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E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  <a:ea typeface="Pretendard"/>
                <a:cs typeface="Pretendard"/>
              </a:defRPr>
            </a:p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743200"/>
                <a:gridCol w="3230575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73F3A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비교 지표</a:t>
                      </a:r>
                    </a:p>
                  </a:txBody>
                  <a:tcPr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73F3A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일반 채용 포털</a:t>
                      </a:r>
                    </a:p>
                  </a:txBody>
                  <a:tcPr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73F3A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전통 헤드헌팅 사</a:t>
                      </a:r>
                    </a:p>
                  </a:txBody>
                  <a:tcPr>
                    <a:solidFill>
                      <a:srgbClr val="DD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이어잡 (EOJOB)  ★ 추천</a:t>
                      </a:r>
                    </a:p>
                  </a:txBody>
                  <a:tcPr>
                    <a:solidFill>
                      <a:srgbClr val="173F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7212B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역량 검증 방식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7212B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지원자의 일방적 텍스트 이력서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7212B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단순 연차 및 지인 평판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73F3A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AI 인터뷰 기반 '문제 해결 카드' 제공</a:t>
                      </a:r>
                    </a:p>
                  </a:txBody>
                  <a:tcPr>
                    <a:solidFill>
                      <a:srgbClr val="FDF0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7212B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고용 형태 유연성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7212B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정규직 위주 (경직성 높음)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7212B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정규직 전용 (수수료 중심)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73F3A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정규직 + 주 2~3일 유연 자문 계약</a:t>
                      </a:r>
                    </a:p>
                  </a:txBody>
                  <a:tcPr>
                    <a:solidFill>
                      <a:srgbClr val="FDF0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7212B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정부 지원금 연계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7212B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기업이 직접 제도 파악 및 신청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7212B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연계 지원 전혀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84734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연 720만원(월 60만원) 자동 산출서</a:t>
                      </a:r>
                    </a:p>
                  </a:txBody>
                  <a:tcPr>
                    <a:solidFill>
                      <a:srgbClr val="FDF0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7212B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채용 리스크 보장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7212B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보장 없음 (환불/교체 불가)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7212B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3개월 내 1회 한정 재추천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84734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14일 무상 교체 보증 (Risk-Zero)</a:t>
                      </a:r>
                    </a:p>
                  </a:txBody>
                  <a:tcPr>
                    <a:solidFill>
                      <a:srgbClr val="FDF0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7212B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매칭 소요 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7212B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서류 검토 평균 3주 이상 소요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7212B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후보자 서칭 평균 4~6주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B84734"/>
                          </a:solidFill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>
                          <a:latin typeface="Pretendard"/>
                          <a:ea typeface="Pretendard"/>
                          <a:cs typeface="Pretendard"/>
                        </a:rPr>
                        <a:t>AI 정밀 매칭 48시간 내 후보자 전달</a:t>
                      </a:r>
                    </a:p>
                  </a:txBody>
                  <a:tcPr>
                    <a:solidFill>
                      <a:srgbClr val="FDF0E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943600"/>
            <a:ext cx="10728655" cy="438912"/>
          </a:xfrm>
          <a:prstGeom prst="roundRect">
            <a:avLst/>
          </a:prstGeom>
          <a:solidFill>
            <a:srgbClr val="173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🎯 결론: 검증 시간은 80% 단축하고, 정부 지원금으로 채용 1인당 연 720만원 인건비를 즉각 보전합니다.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DDEBE7"/>
          </a:solidFill>
          <a:ln w="12700">
            <a:solidFill>
              <a:srgbClr val="BB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5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03  |  AI TALENT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검토 시간 80% 단축, 실무 역량만 사전 추출하는 AI 경험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EOJOB B2B TALENT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E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  <a:ea typeface="Pretendard"/>
                <a:cs typeface="Pretendard"/>
              </a:defRPr>
            </a:pPr>
          </a:p>
        </p:txBody>
      </p:sp>
      <p:pic>
        <p:nvPicPr>
          <p:cNvPr id="6" name="Picture 5" descr="eojob_ai_card_mock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16459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즉시 투입 가능한 상위 5% 시니어 전문가 네트워크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240280"/>
            <a:ext cx="53949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제조 품질 · 스마트공장 총괄 전무 (28년)</a:t>
            </a:r>
          </a:p>
          <a:p>
            <a:pPr>
              <a:defRPr sz="950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완성차 1차 협력사 품질총괄 | ISO 9001 인증 고도화</a:t>
            </a:r>
          </a:p>
          <a:p>
            <a:pPr>
              <a:defRPr sz="1000" b="1">
                <a:solidFill>
                  <a:srgbClr val="17212B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성과: 불량률 4.2% ➔ 0.8% 개선, 완성차 납기 클레임 0건 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2350008"/>
            <a:ext cx="1325880" cy="256032"/>
          </a:xfrm>
          <a:prstGeom prst="roundRect">
            <a:avLst/>
          </a:prstGeom>
          <a:solidFill>
            <a:srgbClr val="FDF0ED"/>
          </a:solidFill>
          <a:ln w="12700">
            <a:solidFill>
              <a:srgbClr val="F0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06B4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연 720만원 지원 대상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566160"/>
            <a:ext cx="53949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클라우드 / 인프라 총괄 아키텍트 (22년)</a:t>
            </a:r>
          </a:p>
          <a:p>
            <a:pPr>
              <a:defRPr sz="950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대기업 SI 및 테크 유니콘 인프라 리드 역임</a:t>
            </a:r>
          </a:p>
          <a:p>
            <a:pPr>
              <a:defRPr sz="1000" b="1">
                <a:solidFill>
                  <a:srgbClr val="17212B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성과: AWS/Azure 대규모 마이그레이션 &amp; 인프라 유지비 35% 절감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3675888"/>
            <a:ext cx="1325880" cy="256032"/>
          </a:xfrm>
          <a:prstGeom prst="roundRect">
            <a:avLst/>
          </a:prstGeom>
          <a:solidFill>
            <a:srgbClr val="DDEBE7"/>
          </a:solidFill>
          <a:ln w="12700">
            <a:solidFill>
              <a:srgbClr val="173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주 2~3일 유연 자문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892040"/>
            <a:ext cx="53949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정부 R&amp;D 국책과제 기획 총괄 (19년)</a:t>
            </a:r>
          </a:p>
          <a:p>
            <a:pPr>
              <a:defRPr sz="950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중기부 / 산자부 대형 국책과제 42억원 수주 총괄</a:t>
            </a:r>
          </a:p>
          <a:p>
            <a:pPr>
              <a:defRPr sz="1000" b="1">
                <a:solidFill>
                  <a:srgbClr val="17212B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성과: 과제 기획서 작성, 대면 발표 평가 완벽 코칭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5001768"/>
            <a:ext cx="1325880" cy="256032"/>
          </a:xfrm>
          <a:prstGeom prst="roundRect">
            <a:avLst/>
          </a:prstGeom>
          <a:solidFill>
            <a:srgbClr val="DDEBE7"/>
          </a:solidFill>
          <a:ln w="12700">
            <a:solidFill>
              <a:srgbClr val="245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45A53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프로젝트 단위 계약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DDEBE7"/>
          </a:solidFill>
          <a:ln w="12700">
            <a:solidFill>
              <a:srgbClr val="BB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5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04  |  FINANCIAL BENEFIT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고용촉진장려금 지원 구조 및 채용 인원별 현금 환급 시뮬레이션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EOJOB B2B TALENT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E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  <a:ea typeface="Pretendard"/>
                <a:cs typeface="Pretendard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846320" cy="4480560"/>
          </a:xfrm>
          <a:prstGeom prst="roundRect">
            <a:avLst/>
          </a:prstGeom>
          <a:solidFill>
            <a:srgbClr val="173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고용노동부 고용촉진장려금 핵심 요약</a:t>
            </a:r>
          </a:p>
          <a:p>
            <a:br/>
            <a:pPr>
              <a:defRPr sz="1150" b="1">
                <a:solidFill>
                  <a:srgbClr val="F06B4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• 지원 대상</a:t>
            </a:r>
          </a:p>
          <a:p>
            <a:pPr>
              <a:defRPr sz="1100">
                <a:solidFill>
                  <a:srgbClr val="DDEBE7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  국민취업지원제도 이수 인증 시니어 인재 채용 시</a:t>
            </a:r>
          </a:p>
          <a:p>
            <a:br/>
            <a:pPr>
              <a:defRPr sz="1150" b="1">
                <a:solidFill>
                  <a:srgbClr val="F06B4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• 지원 금액</a:t>
            </a:r>
          </a:p>
          <a:p>
            <a:pPr>
              <a:defRPr sz="1100">
                <a:solidFill>
                  <a:srgbClr val="DDEBE7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  채용 1인당 월 60만원 (연간 최대 720만원)</a:t>
            </a:r>
          </a:p>
          <a:p>
            <a:br/>
            <a:pPr>
              <a:defRPr sz="1150" b="1">
                <a:solidFill>
                  <a:srgbClr val="F06B4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• 지급 주기</a:t>
            </a:r>
          </a:p>
          <a:p>
            <a:pPr>
              <a:defRPr sz="1100">
                <a:solidFill>
                  <a:srgbClr val="DDEBE7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  3개월 단위로 분기별 180만원씩 회사 계좌로 직접 환급</a:t>
            </a:r>
          </a:p>
          <a:p>
            <a:br/>
            <a:pPr>
              <a:defRPr sz="1150" b="1">
                <a:solidFill>
                  <a:srgbClr val="F06B4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• 법적 근거</a:t>
            </a:r>
          </a:p>
          <a:p>
            <a:pPr>
              <a:defRPr sz="1100">
                <a:solidFill>
                  <a:srgbClr val="DDEBE7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  고용보험법 시행령 제12조 (우선지원대상기업 기준)</a:t>
            </a:r>
          </a:p>
          <a:p>
            <a:br/>
            <a:pPr>
              <a:def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🛡️ 이어잡 플랫폼은 대상자 사전 선별부터 고용24 신청 서류 가이드를 원스톱으로 지원합니다.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645920"/>
            <a:ext cx="557784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1명 채용 시  |  분기 180만원 환급</a:t>
            </a:r>
          </a:p>
          <a:p>
            <a:pPr>
              <a:defRPr sz="1000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신입 1인 인건비의 약 25% 보전 효과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828800"/>
            <a:ext cx="1463040" cy="640080"/>
          </a:xfrm>
          <a:prstGeom prst="roundRect">
            <a:avLst/>
          </a:prstGeom>
          <a:solidFill>
            <a:srgbClr val="FDF0ED"/>
          </a:solidFill>
          <a:ln w="19050">
            <a:solidFill>
              <a:srgbClr val="F0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84734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연 720 만원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2788920"/>
            <a:ext cx="557784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2명 채용 시  |  분기 360만원 환급</a:t>
            </a:r>
          </a:p>
          <a:p>
            <a:pPr>
              <a:defRPr sz="1000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연간 1,440만원 순 현금 회사 통장 입금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2971800"/>
            <a:ext cx="1463040" cy="640080"/>
          </a:xfrm>
          <a:prstGeom prst="roundRect">
            <a:avLst/>
          </a:prstGeom>
          <a:solidFill>
            <a:srgbClr val="FDF0ED"/>
          </a:solidFill>
          <a:ln w="19050">
            <a:solidFill>
              <a:srgbClr val="F0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84734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연 1,440 만원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3931920"/>
            <a:ext cx="557784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3명 채용 시  |  분기 540만원 환급</a:t>
            </a:r>
          </a:p>
          <a:p>
            <a:pPr>
              <a:defRPr sz="1000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시니어 전문 자문단 구축 비용 대폭 절감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4114800"/>
            <a:ext cx="1463040" cy="640080"/>
          </a:xfrm>
          <a:prstGeom prst="roundRect">
            <a:avLst/>
          </a:prstGeom>
          <a:solidFill>
            <a:srgbClr val="FDF0ED"/>
          </a:solidFill>
          <a:ln w="19050">
            <a:solidFill>
              <a:srgbClr val="F0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84734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연 2,160 만원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5074920"/>
            <a:ext cx="557784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1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5명 채용 시  |  분기 900만원 환급</a:t>
            </a:r>
          </a:p>
          <a:p>
            <a:pPr>
              <a:defRPr sz="1000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1개 부서 인건비의 30% 이상 정부 보전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5257800"/>
            <a:ext cx="1463040" cy="640080"/>
          </a:xfrm>
          <a:prstGeom prst="roundRect">
            <a:avLst/>
          </a:prstGeom>
          <a:solidFill>
            <a:srgbClr val="FDF0ED"/>
          </a:solidFill>
          <a:ln w="19050">
            <a:solidFill>
              <a:srgbClr val="F0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84734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연 3,600 만원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DDEBE7"/>
          </a:solidFill>
          <a:ln w="12700">
            <a:solidFill>
              <a:srgbClr val="BB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5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05  |  PROVEN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스마트제조 S사 도입 성공 사례 : 불량률 72% 감축 &amp; 1,440만원 환급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EOJOB B2B TALENT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E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  <a:ea typeface="Pretendard"/>
                <a:cs typeface="Pretendard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B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250" b="1">
                <a:solidFill>
                  <a:srgbClr val="B84734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1. 직면 과제 (Challenge)</a:t>
            </a:r>
          </a:p>
          <a:p>
            <a:pPr>
              <a:defRPr sz="1050">
                <a:solidFill>
                  <a:srgbClr val="17212B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신규 자동차 정밀 부품 양산 라인에서 원인 불명의 불량률(2.5%) 지속 발생</a:t>
            </a:r>
            <a:br/>
            <a:r>
              <a:rPr>
                <a:latin typeface="Pretendard"/>
                <a:ea typeface="Pretendard"/>
                <a:cs typeface="Pretendard"/>
              </a:rPr>
              <a:t>• 1차 협력사 납기 지연 위기 및 연간 폐기 손실 3.2억원 발생 위험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82112"/>
            <a:ext cx="5486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B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25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2. 이어잡 매칭 솔루션 (Solution)</a:t>
            </a:r>
          </a:p>
          <a:p>
            <a:pPr>
              <a:defRPr sz="1050">
                <a:solidFill>
                  <a:srgbClr val="17212B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완성차 1차사 품질총괄 28년 경력 시니어 전문가 2인 주 3일 하이브리드 투입</a:t>
            </a:r>
            <a:br/>
            <a:r>
              <a:rPr>
                <a:latin typeface="Pretendard"/>
                <a:ea typeface="Pretendard"/>
                <a:cs typeface="Pretendard"/>
              </a:rPr>
              <a:t>• 48시간 내 매칭 완료 및 공정별 통계적 공정관리(SPC) 표준화 전수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18304"/>
            <a:ext cx="5486400" cy="1371600"/>
          </a:xfrm>
          <a:prstGeom prst="roundRect">
            <a:avLst/>
          </a:prstGeom>
          <a:solidFill>
            <a:srgbClr val="FDF0ED"/>
          </a:solidFill>
          <a:ln w="19050">
            <a:solidFill>
              <a:srgbClr val="F0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>
              <a:defRPr sz="1250" b="1">
                <a:solidFill>
                  <a:srgbClr val="B84734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3. 달성 성과 (Outcome)</a:t>
            </a:r>
          </a:p>
          <a:p>
            <a:pPr>
              <a:defRPr sz="1050">
                <a:solidFill>
                  <a:srgbClr val="17212B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불량률 2.5% ➔ 0.15% 급감 (불량 72% 이상 감축 달성)</a:t>
            </a:r>
            <a:br/>
            <a:r>
              <a:rPr>
                <a:latin typeface="Pretendard"/>
                <a:ea typeface="Pretendard"/>
                <a:cs typeface="Pretendard"/>
              </a:rPr>
              <a:t>• 연간 폐기 비용 3.2억원 절감 + 고용노동부 장려금 연 1,440만원 전액 수령</a:t>
            </a:r>
          </a:p>
        </p:txBody>
      </p:sp>
      <p:pic>
        <p:nvPicPr>
          <p:cNvPr id="9" name="Picture 8" descr="eojob_success_c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37760" cy="3017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92240" y="4800600"/>
            <a:ext cx="4937760" cy="1325880"/>
          </a:xfrm>
          <a:prstGeom prst="roundRect">
            <a:avLst/>
          </a:prstGeom>
          <a:solidFill>
            <a:srgbClr val="173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100" b="1">
                <a:solidFill>
                  <a:srgbClr val="F06B4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💬 스마트제조 S사 인사총괄 전무의 한마디</a:t>
            </a:r>
          </a:p>
          <a:p>
            <a:pPr>
              <a:defRPr sz="105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"기존 헤드헌팅으로는 찾을 수 없었던 28년 경력의 베테랑을 주 3일 자문 형태로 합리적으로 채용했고, 지원금 1,440만원까지 지원받아 인건비 부담이 전혀 없었습니다."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292608"/>
          </a:xfrm>
          <a:prstGeom prst="roundRect">
            <a:avLst/>
          </a:prstGeom>
          <a:solidFill>
            <a:srgbClr val="DDEBE7"/>
          </a:solidFill>
          <a:ln w="12700">
            <a:solidFill>
              <a:srgbClr val="BB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95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06  |  PROCESS &amp; GUARANTEE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단 3단계 채용 프로세스 및 인사담당자 100% 안심 보증제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EOJOB B2B TALENT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E0D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  <a:ea typeface="Pretendard"/>
                <a:cs typeface="Pretendard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00" b="1">
                <a:solidFill>
                  <a:srgbClr val="245A53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STEP 01</a:t>
            </a:r>
          </a:p>
          <a:p>
            <a:pPr>
              <a:defRPr sz="14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과제 / 포지션 등록</a:t>
            </a:r>
          </a:p>
          <a:p>
            <a:pPr>
              <a:defRPr sz="950" b="1">
                <a:solidFill>
                  <a:srgbClr val="B84734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[1분 등록]</a:t>
            </a:r>
          </a:p>
          <a:p>
            <a:br/>
            <a:pPr>
              <a:defRPr sz="1050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해결하고 싶은 기술 과제나 채용 요건을 등록하면, AI가 요구 역량을 자동 파싱합니다.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00" b="1">
                <a:solidFill>
                  <a:srgbClr val="F06B4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STEP 02</a:t>
            </a:r>
          </a:p>
          <a:p>
            <a:pPr>
              <a:defRPr sz="14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AI 맞춤 추천 &amp; 검토</a:t>
            </a:r>
          </a:p>
          <a:p>
            <a:pPr>
              <a:defRPr sz="950" b="1">
                <a:solidFill>
                  <a:srgbClr val="B84734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[48시간 내 완료]</a:t>
            </a:r>
          </a:p>
          <a:p>
            <a:br/>
            <a:pPr>
              <a:defRPr sz="1050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적합도 90점 이상 &amp; 연 720만원 지원 대상 인재의 AI 경험 카드를 전달받습니다.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D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00" b="1">
                <a:solidFill>
                  <a:srgbClr val="245A53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STEP 03</a:t>
            </a:r>
          </a:p>
          <a:p>
            <a:pPr>
              <a:defRPr sz="14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계약 &amp; 지원금 수령</a:t>
            </a:r>
          </a:p>
          <a:p>
            <a:pPr>
              <a:defRPr sz="950" b="1">
                <a:solidFill>
                  <a:srgbClr val="B84734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[원스톱 지원]</a:t>
            </a:r>
          </a:p>
          <a:p>
            <a:br/>
            <a:pPr>
              <a:defRPr sz="1050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정규직/유연 계약 체결 후 고용24 분기별 180만원 환급 절차를 밀착 지원합니다.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10728655" cy="1920240"/>
          </a:xfrm>
          <a:prstGeom prst="roundRect">
            <a:avLst/>
          </a:prstGeom>
          <a:solidFill>
            <a:srgbClr val="173F3A"/>
          </a:solidFill>
          <a:ln w="25400">
            <a:solidFill>
              <a:srgbClr val="F0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600" b="1">
                <a:solidFill>
                  <a:srgbClr val="F06B4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🛡️ 이어잡 인사담당자 안심 보장제 (Risk-Zero Policy)</a:t>
            </a:r>
          </a:p>
          <a:p>
            <a:br/>
            <a:pPr>
              <a:def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"채용 후 14일 이내 업무 적합도 불만족 시, 추가 비용 없이 100% 무상으로 1회 재매칭을 보장합니다."</a:t>
            </a:r>
          </a:p>
          <a:p>
            <a:pPr>
              <a:defRPr sz="1100">
                <a:solidFill>
                  <a:srgbClr val="DDEBE7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이제 시니어 전문가 채용에 따르는 역량 검증 실패 리스크와 비용 부담을 이어잡이 함께 분담해 드립니다.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0" y="914400"/>
            <a:ext cx="8899855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Pretendard"/>
                <a:ea typeface="Pretendard"/>
                <a:cs typeface="Pretendard"/>
              </a:defRPr>
            </a:pPr>
          </a:p>
        </p:txBody>
      </p:sp>
      <p:pic>
        <p:nvPicPr>
          <p:cNvPr id="3" name="Picture 2" descr="logo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80160"/>
            <a:ext cx="138473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11680" y="1828800"/>
            <a:ext cx="81683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지금 우리 회사에 꼭 필요한</a:t>
            </a:r>
            <a:br/>
            <a:r>
              <a:rPr>
                <a:latin typeface="Pretendard"/>
                <a:ea typeface="Pretendard"/>
                <a:cs typeface="Pretendard"/>
              </a:rPr>
              <a:t>검증된 시니어 인재 3인을 무료로 추천받으세요</a:t>
            </a:r>
          </a:p>
          <a:p>
            <a:br/>
            <a:pPr algn="ctr">
              <a:defRPr sz="1250">
                <a:solidFill>
                  <a:srgbClr val="53606E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채용 중인 포지션 조건이나 당면 과제를 메일로 회신해 주시면,</a:t>
            </a:r>
            <a:br/>
            <a:r>
              <a:rPr>
                <a:latin typeface="Pretendard"/>
                <a:ea typeface="Pretendard"/>
                <a:cs typeface="Pretendard"/>
              </a:rPr>
              <a:t>최적 매칭 인재 3인의 AI 경험 카드와 고용촉진장려금 산출서를 24시간 내 무상으로 전달해 드립니다.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3931920"/>
            <a:ext cx="3931920" cy="502920"/>
          </a:xfrm>
          <a:prstGeom prst="roundRect">
            <a:avLst/>
          </a:prstGeom>
          <a:solidFill>
            <a:srgbClr val="F0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📩 이메일 회신으로 무료 신청하기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709160"/>
            <a:ext cx="81683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73F3A"/>
                </a:solidFill>
                <a:latin typeface="Pretendard"/>
                <a:ea typeface="Pretendard"/>
                <a:cs typeface="Pretendard"/>
              </a:defRPr>
            </a:pPr>
            <a:r>
              <a:rPr>
                <a:latin typeface="Pretendard"/>
                <a:ea typeface="Pretendard"/>
                <a:cs typeface="Pretendard"/>
              </a:rPr>
              <a:t>🌐 공식 웹사이트: https://eojob.kr     |     ✉️ 제휴/채용 문의: contact@eojob.kr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